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" charset="1" panose="000000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Touvlo" charset="1" panose="020B0604030403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910256" y="-1024396"/>
            <a:ext cx="18037604" cy="5764518"/>
          </a:xfrm>
          <a:custGeom>
            <a:avLst/>
            <a:gdLst/>
            <a:ahLst/>
            <a:cxnLst/>
            <a:rect r="r" b="b" t="t" l="l"/>
            <a:pathLst>
              <a:path h="5764518" w="18037604">
                <a:moveTo>
                  <a:pt x="18037604" y="0"/>
                </a:moveTo>
                <a:lnTo>
                  <a:pt x="0" y="0"/>
                </a:lnTo>
                <a:lnTo>
                  <a:pt x="0" y="5764518"/>
                </a:lnTo>
                <a:lnTo>
                  <a:pt x="18037604" y="5764518"/>
                </a:lnTo>
                <a:lnTo>
                  <a:pt x="1803760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374553">
            <a:off x="-3009618" y="5893516"/>
            <a:ext cx="11894220" cy="5734005"/>
          </a:xfrm>
          <a:custGeom>
            <a:avLst/>
            <a:gdLst/>
            <a:ahLst/>
            <a:cxnLst/>
            <a:rect r="r" b="b" t="t" l="l"/>
            <a:pathLst>
              <a:path h="5734005" w="11894220">
                <a:moveTo>
                  <a:pt x="11894220" y="0"/>
                </a:moveTo>
                <a:lnTo>
                  <a:pt x="0" y="0"/>
                </a:lnTo>
                <a:lnTo>
                  <a:pt x="0" y="5734006"/>
                </a:lnTo>
                <a:lnTo>
                  <a:pt x="11894220" y="5734006"/>
                </a:lnTo>
                <a:lnTo>
                  <a:pt x="1189422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91197" y="1548954"/>
            <a:ext cx="12910256" cy="5559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52"/>
              </a:lnSpc>
            </a:pPr>
            <a:r>
              <a:rPr lang="en-US" sz="13896" spc="-87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AI-Enabled Conversational IVR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08211" y="6913297"/>
            <a:ext cx="8023350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Revolutionizing Customer Interaction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36182" y="8927972"/>
            <a:ext cx="5523118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8"/>
              </a:lnSpc>
            </a:pPr>
            <a:r>
              <a:rPr lang="en-US" sz="2100" spc="60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INFOSYS SPRINGBOARD- BATCH 3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54189" y="8210308"/>
            <a:ext cx="1654022" cy="1654022"/>
          </a:xfrm>
          <a:custGeom>
            <a:avLst/>
            <a:gdLst/>
            <a:ahLst/>
            <a:cxnLst/>
            <a:rect r="r" b="b" t="t" l="l"/>
            <a:pathLst>
              <a:path h="1654022" w="1654022">
                <a:moveTo>
                  <a:pt x="0" y="0"/>
                </a:moveTo>
                <a:lnTo>
                  <a:pt x="1654022" y="0"/>
                </a:lnTo>
                <a:lnTo>
                  <a:pt x="1654022" y="1654022"/>
                </a:lnTo>
                <a:lnTo>
                  <a:pt x="0" y="1654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927248">
            <a:off x="-2791102" y="4024894"/>
            <a:ext cx="12739531" cy="4495993"/>
          </a:xfrm>
          <a:custGeom>
            <a:avLst/>
            <a:gdLst/>
            <a:ahLst/>
            <a:cxnLst/>
            <a:rect r="r" b="b" t="t" l="l"/>
            <a:pathLst>
              <a:path h="4495993" w="12739531">
                <a:moveTo>
                  <a:pt x="0" y="0"/>
                </a:moveTo>
                <a:lnTo>
                  <a:pt x="12739531" y="0"/>
                </a:lnTo>
                <a:lnTo>
                  <a:pt x="12739531" y="4495993"/>
                </a:lnTo>
                <a:lnTo>
                  <a:pt x="0" y="44959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2515" y="-2310977"/>
            <a:ext cx="11894220" cy="5734005"/>
          </a:xfrm>
          <a:custGeom>
            <a:avLst/>
            <a:gdLst/>
            <a:ahLst/>
            <a:cxnLst/>
            <a:rect r="r" b="b" t="t" l="l"/>
            <a:pathLst>
              <a:path h="5734005" w="11894220">
                <a:moveTo>
                  <a:pt x="0" y="0"/>
                </a:moveTo>
                <a:lnTo>
                  <a:pt x="11894221" y="0"/>
                </a:lnTo>
                <a:lnTo>
                  <a:pt x="11894221" y="5734006"/>
                </a:lnTo>
                <a:lnTo>
                  <a:pt x="0" y="5734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89953" y="1574335"/>
            <a:ext cx="9081636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12214" y="3102678"/>
            <a:ext cx="11600083" cy="4380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6898" indent="-383449" lvl="1">
              <a:lnSpc>
                <a:spcPts val="4972"/>
              </a:lnSpc>
              <a:buFont typeface="Arial"/>
              <a:buChar char="•"/>
            </a:pPr>
            <a:r>
              <a:rPr lang="en-US" sz="35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Traditional IVRs are rigid, frustrating, and </a:t>
            </a:r>
            <a:r>
              <a:rPr lang="en-US" sz="3552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lack context.</a:t>
            </a:r>
          </a:p>
          <a:p>
            <a:pPr algn="l" marL="766898" indent="-383449" lvl="1">
              <a:lnSpc>
                <a:spcPts val="4972"/>
              </a:lnSpc>
              <a:buFont typeface="Arial"/>
              <a:buChar char="•"/>
            </a:pPr>
            <a:r>
              <a:rPr lang="en-US" sz="35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Moving from "Press 1 for Accounts" (DTMF) to "How can I help you?" (Natural Language).</a:t>
            </a:r>
          </a:p>
          <a:p>
            <a:pPr algn="l" marL="766898" indent="-383449" lvl="1">
              <a:lnSpc>
                <a:spcPts val="4972"/>
              </a:lnSpc>
              <a:buFont typeface="Arial"/>
              <a:buChar char="•"/>
            </a:pPr>
            <a:r>
              <a:rPr lang="en-US" sz="35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Integrating Generative AI to create </a:t>
            </a:r>
            <a:r>
              <a:rPr lang="en-US" b="true" sz="3552">
                <a:solidFill>
                  <a:srgbClr val="911FC9"/>
                </a:solidFill>
                <a:latin typeface="Poppins Bold"/>
                <a:ea typeface="Poppins Bold"/>
                <a:cs typeface="Poppins Bold"/>
                <a:sym typeface="Poppins Bold"/>
              </a:rPr>
              <a:t>human-like, intuitive voice interactions.</a:t>
            </a:r>
          </a:p>
          <a:p>
            <a:pPr algn="l">
              <a:lnSpc>
                <a:spcPts val="497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54189" y="8210308"/>
            <a:ext cx="1654022" cy="1654022"/>
          </a:xfrm>
          <a:custGeom>
            <a:avLst/>
            <a:gdLst/>
            <a:ahLst/>
            <a:cxnLst/>
            <a:rect r="r" b="b" t="t" l="l"/>
            <a:pathLst>
              <a:path h="1654022" w="1654022">
                <a:moveTo>
                  <a:pt x="0" y="0"/>
                </a:moveTo>
                <a:lnTo>
                  <a:pt x="1654022" y="0"/>
                </a:lnTo>
                <a:lnTo>
                  <a:pt x="1654022" y="1654022"/>
                </a:lnTo>
                <a:lnTo>
                  <a:pt x="0" y="1654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36182" y="9305925"/>
            <a:ext cx="5523118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8"/>
              </a:lnSpc>
            </a:pPr>
            <a:r>
              <a:rPr lang="en-US" sz="2100" spc="60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Presented By : Buela, Sneha and Harika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33824" y="-1664092"/>
            <a:ext cx="11894220" cy="5734005"/>
          </a:xfrm>
          <a:custGeom>
            <a:avLst/>
            <a:gdLst/>
            <a:ahLst/>
            <a:cxnLst/>
            <a:rect r="r" b="b" t="t" l="l"/>
            <a:pathLst>
              <a:path h="5734005" w="11894220">
                <a:moveTo>
                  <a:pt x="0" y="0"/>
                </a:moveTo>
                <a:lnTo>
                  <a:pt x="11894220" y="0"/>
                </a:lnTo>
                <a:lnTo>
                  <a:pt x="11894220" y="5734006"/>
                </a:lnTo>
                <a:lnTo>
                  <a:pt x="0" y="5734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08900" y="-1160002"/>
            <a:ext cx="4300800" cy="4377405"/>
          </a:xfrm>
          <a:custGeom>
            <a:avLst/>
            <a:gdLst/>
            <a:ahLst/>
            <a:cxnLst/>
            <a:rect r="r" b="b" t="t" l="l"/>
            <a:pathLst>
              <a:path h="4377405" w="4300800">
                <a:moveTo>
                  <a:pt x="0" y="0"/>
                </a:moveTo>
                <a:lnTo>
                  <a:pt x="4300800" y="0"/>
                </a:lnTo>
                <a:lnTo>
                  <a:pt x="4300800" y="4377404"/>
                </a:lnTo>
                <a:lnTo>
                  <a:pt x="0" y="437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5078" y="2155818"/>
            <a:ext cx="15717844" cy="7102482"/>
          </a:xfrm>
          <a:custGeom>
            <a:avLst/>
            <a:gdLst/>
            <a:ahLst/>
            <a:cxnLst/>
            <a:rect r="r" b="b" t="t" l="l"/>
            <a:pathLst>
              <a:path h="7102482" w="15717844">
                <a:moveTo>
                  <a:pt x="0" y="0"/>
                </a:moveTo>
                <a:lnTo>
                  <a:pt x="15717844" y="0"/>
                </a:lnTo>
                <a:lnTo>
                  <a:pt x="15717844" y="7102482"/>
                </a:lnTo>
                <a:lnTo>
                  <a:pt x="0" y="7102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735" r="0" b="-844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77109" y="399161"/>
            <a:ext cx="9081636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47341" y="9486005"/>
            <a:ext cx="5523118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8"/>
              </a:lnSpc>
            </a:pPr>
            <a:r>
              <a:rPr lang="en-US" sz="2100" spc="60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Presented By : Misha and Santhosh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88954" y="-777273"/>
            <a:ext cx="8344335" cy="8229600"/>
          </a:xfrm>
          <a:custGeom>
            <a:avLst/>
            <a:gdLst/>
            <a:ahLst/>
            <a:cxnLst/>
            <a:rect r="r" b="b" t="t" l="l"/>
            <a:pathLst>
              <a:path h="8229600" w="8344335">
                <a:moveTo>
                  <a:pt x="0" y="0"/>
                </a:moveTo>
                <a:lnTo>
                  <a:pt x="8344334" y="0"/>
                </a:lnTo>
                <a:lnTo>
                  <a:pt x="83443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01863" y="5843206"/>
            <a:ext cx="6365263" cy="6478639"/>
          </a:xfrm>
          <a:custGeom>
            <a:avLst/>
            <a:gdLst/>
            <a:ahLst/>
            <a:cxnLst/>
            <a:rect r="r" b="b" t="t" l="l"/>
            <a:pathLst>
              <a:path h="6478639" w="6365263">
                <a:moveTo>
                  <a:pt x="0" y="0"/>
                </a:moveTo>
                <a:lnTo>
                  <a:pt x="6365263" y="0"/>
                </a:lnTo>
                <a:lnTo>
                  <a:pt x="6365263" y="6478639"/>
                </a:lnTo>
                <a:lnTo>
                  <a:pt x="0" y="647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4913" y="859902"/>
            <a:ext cx="11490210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5139" y="2809243"/>
            <a:ext cx="1357987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3961" y="2793027"/>
            <a:ext cx="10624599" cy="119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3"/>
              </a:lnSpc>
            </a:pPr>
            <a:r>
              <a:rPr lang="en-US" sz="33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develop a modern framework that </a:t>
            </a:r>
            <a:r>
              <a:rPr lang="en-US" sz="3352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modernizes legacy VXML systems.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913" y="4754122"/>
            <a:ext cx="1357987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3961" y="4732728"/>
            <a:ext cx="10624599" cy="119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3"/>
              </a:lnSpc>
            </a:pPr>
            <a:r>
              <a:rPr lang="en-US" sz="33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3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onverting voice input to text, processing it via AI, and responding with synthetic voice.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4913" y="7016296"/>
            <a:ext cx="1357987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3.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3961" y="7000080"/>
            <a:ext cx="10624599" cy="119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3"/>
              </a:lnSpc>
            </a:pPr>
            <a:r>
              <a:rPr lang="en-US" sz="33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Dynamic responses based on user intent, not pre-recorded static menus.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4913" y="9408850"/>
            <a:ext cx="6671130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8"/>
              </a:lnSpc>
            </a:pPr>
            <a:r>
              <a:rPr lang="en-US" sz="2100" spc="60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Presented By : Nazia, Ashish and Priyadarshini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26341" y="674345"/>
            <a:ext cx="8088028" cy="7838647"/>
          </a:xfrm>
          <a:custGeom>
            <a:avLst/>
            <a:gdLst/>
            <a:ahLst/>
            <a:cxnLst/>
            <a:rect r="r" b="b" t="t" l="l"/>
            <a:pathLst>
              <a:path h="7838647" w="8088028">
                <a:moveTo>
                  <a:pt x="0" y="0"/>
                </a:moveTo>
                <a:lnTo>
                  <a:pt x="8088028" y="0"/>
                </a:lnTo>
                <a:lnTo>
                  <a:pt x="8088028" y="7838647"/>
                </a:lnTo>
                <a:lnTo>
                  <a:pt x="0" y="7838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2016" y="4267974"/>
            <a:ext cx="2937238" cy="4575091"/>
            <a:chOff x="0" y="0"/>
            <a:chExt cx="932601" cy="14526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2601" cy="1452634"/>
            </a:xfrm>
            <a:custGeom>
              <a:avLst/>
              <a:gdLst/>
              <a:ahLst/>
              <a:cxnLst/>
              <a:rect r="r" b="b" t="t" l="l"/>
              <a:pathLst>
                <a:path h="1452634" w="932601">
                  <a:moveTo>
                    <a:pt x="110703" y="0"/>
                  </a:moveTo>
                  <a:lnTo>
                    <a:pt x="821898" y="0"/>
                  </a:lnTo>
                  <a:cubicBezTo>
                    <a:pt x="851258" y="0"/>
                    <a:pt x="879416" y="11663"/>
                    <a:pt x="900177" y="32424"/>
                  </a:cubicBezTo>
                  <a:cubicBezTo>
                    <a:pt x="920937" y="53185"/>
                    <a:pt x="932601" y="81343"/>
                    <a:pt x="932601" y="110703"/>
                  </a:cubicBezTo>
                  <a:lnTo>
                    <a:pt x="932601" y="1341931"/>
                  </a:lnTo>
                  <a:cubicBezTo>
                    <a:pt x="932601" y="1371291"/>
                    <a:pt x="920937" y="1399449"/>
                    <a:pt x="900177" y="1420210"/>
                  </a:cubicBezTo>
                  <a:cubicBezTo>
                    <a:pt x="879416" y="1440971"/>
                    <a:pt x="851258" y="1452634"/>
                    <a:pt x="821898" y="1452634"/>
                  </a:cubicBezTo>
                  <a:lnTo>
                    <a:pt x="110703" y="1452634"/>
                  </a:lnTo>
                  <a:cubicBezTo>
                    <a:pt x="81343" y="1452634"/>
                    <a:pt x="53185" y="1440971"/>
                    <a:pt x="32424" y="1420210"/>
                  </a:cubicBezTo>
                  <a:cubicBezTo>
                    <a:pt x="11663" y="1399449"/>
                    <a:pt x="0" y="1371291"/>
                    <a:pt x="0" y="1341931"/>
                  </a:cubicBezTo>
                  <a:lnTo>
                    <a:pt x="0" y="110703"/>
                  </a:lnTo>
                  <a:cubicBezTo>
                    <a:pt x="0" y="81343"/>
                    <a:pt x="11663" y="53185"/>
                    <a:pt x="32424" y="32424"/>
                  </a:cubicBezTo>
                  <a:cubicBezTo>
                    <a:pt x="53185" y="11663"/>
                    <a:pt x="81343" y="0"/>
                    <a:pt x="110703" y="0"/>
                  </a:cubicBezTo>
                  <a:close/>
                </a:path>
              </a:pathLst>
            </a:custGeom>
            <a:solidFill>
              <a:srgbClr val="1E00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32601" cy="149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14259" y="4267974"/>
            <a:ext cx="2937238" cy="4575091"/>
            <a:chOff x="0" y="0"/>
            <a:chExt cx="932601" cy="1452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2601" cy="1452634"/>
            </a:xfrm>
            <a:custGeom>
              <a:avLst/>
              <a:gdLst/>
              <a:ahLst/>
              <a:cxnLst/>
              <a:rect r="r" b="b" t="t" l="l"/>
              <a:pathLst>
                <a:path h="1452634" w="932601">
                  <a:moveTo>
                    <a:pt x="110703" y="0"/>
                  </a:moveTo>
                  <a:lnTo>
                    <a:pt x="821898" y="0"/>
                  </a:lnTo>
                  <a:cubicBezTo>
                    <a:pt x="851258" y="0"/>
                    <a:pt x="879416" y="11663"/>
                    <a:pt x="900177" y="32424"/>
                  </a:cubicBezTo>
                  <a:cubicBezTo>
                    <a:pt x="920937" y="53185"/>
                    <a:pt x="932601" y="81343"/>
                    <a:pt x="932601" y="110703"/>
                  </a:cubicBezTo>
                  <a:lnTo>
                    <a:pt x="932601" y="1341931"/>
                  </a:lnTo>
                  <a:cubicBezTo>
                    <a:pt x="932601" y="1371291"/>
                    <a:pt x="920937" y="1399449"/>
                    <a:pt x="900177" y="1420210"/>
                  </a:cubicBezTo>
                  <a:cubicBezTo>
                    <a:pt x="879416" y="1440971"/>
                    <a:pt x="851258" y="1452634"/>
                    <a:pt x="821898" y="1452634"/>
                  </a:cubicBezTo>
                  <a:lnTo>
                    <a:pt x="110703" y="1452634"/>
                  </a:lnTo>
                  <a:cubicBezTo>
                    <a:pt x="81343" y="1452634"/>
                    <a:pt x="53185" y="1440971"/>
                    <a:pt x="32424" y="1420210"/>
                  </a:cubicBezTo>
                  <a:cubicBezTo>
                    <a:pt x="11663" y="1399449"/>
                    <a:pt x="0" y="1371291"/>
                    <a:pt x="0" y="1341931"/>
                  </a:cubicBezTo>
                  <a:lnTo>
                    <a:pt x="0" y="110703"/>
                  </a:lnTo>
                  <a:cubicBezTo>
                    <a:pt x="0" y="81343"/>
                    <a:pt x="11663" y="53185"/>
                    <a:pt x="32424" y="32424"/>
                  </a:cubicBezTo>
                  <a:cubicBezTo>
                    <a:pt x="53185" y="11663"/>
                    <a:pt x="81343" y="0"/>
                    <a:pt x="110703" y="0"/>
                  </a:cubicBezTo>
                  <a:close/>
                </a:path>
              </a:pathLst>
            </a:custGeom>
            <a:solidFill>
              <a:srgbClr val="610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32601" cy="149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36502" y="4267974"/>
            <a:ext cx="2937238" cy="4575091"/>
            <a:chOff x="0" y="0"/>
            <a:chExt cx="932601" cy="14526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2601" cy="1452634"/>
            </a:xfrm>
            <a:custGeom>
              <a:avLst/>
              <a:gdLst/>
              <a:ahLst/>
              <a:cxnLst/>
              <a:rect r="r" b="b" t="t" l="l"/>
              <a:pathLst>
                <a:path h="1452634" w="932601">
                  <a:moveTo>
                    <a:pt x="110703" y="0"/>
                  </a:moveTo>
                  <a:lnTo>
                    <a:pt x="821898" y="0"/>
                  </a:lnTo>
                  <a:cubicBezTo>
                    <a:pt x="851258" y="0"/>
                    <a:pt x="879416" y="11663"/>
                    <a:pt x="900177" y="32424"/>
                  </a:cubicBezTo>
                  <a:cubicBezTo>
                    <a:pt x="920937" y="53185"/>
                    <a:pt x="932601" y="81343"/>
                    <a:pt x="932601" y="110703"/>
                  </a:cubicBezTo>
                  <a:lnTo>
                    <a:pt x="932601" y="1341931"/>
                  </a:lnTo>
                  <a:cubicBezTo>
                    <a:pt x="932601" y="1371291"/>
                    <a:pt x="920937" y="1399449"/>
                    <a:pt x="900177" y="1420210"/>
                  </a:cubicBezTo>
                  <a:cubicBezTo>
                    <a:pt x="879416" y="1440971"/>
                    <a:pt x="851258" y="1452634"/>
                    <a:pt x="821898" y="1452634"/>
                  </a:cubicBezTo>
                  <a:lnTo>
                    <a:pt x="110703" y="1452634"/>
                  </a:lnTo>
                  <a:cubicBezTo>
                    <a:pt x="81343" y="1452634"/>
                    <a:pt x="53185" y="1440971"/>
                    <a:pt x="32424" y="1420210"/>
                  </a:cubicBezTo>
                  <a:cubicBezTo>
                    <a:pt x="11663" y="1399449"/>
                    <a:pt x="0" y="1371291"/>
                    <a:pt x="0" y="1341931"/>
                  </a:cubicBezTo>
                  <a:lnTo>
                    <a:pt x="0" y="110703"/>
                  </a:lnTo>
                  <a:cubicBezTo>
                    <a:pt x="0" y="81343"/>
                    <a:pt x="11663" y="53185"/>
                    <a:pt x="32424" y="32424"/>
                  </a:cubicBezTo>
                  <a:cubicBezTo>
                    <a:pt x="53185" y="11663"/>
                    <a:pt x="81343" y="0"/>
                    <a:pt x="110703" y="0"/>
                  </a:cubicBezTo>
                  <a:close/>
                </a:path>
              </a:pathLst>
            </a:custGeom>
            <a:solidFill>
              <a:srgbClr val="911F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32601" cy="149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58745" y="4267974"/>
            <a:ext cx="2937238" cy="4575091"/>
            <a:chOff x="0" y="0"/>
            <a:chExt cx="932601" cy="1452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2601" cy="1452634"/>
            </a:xfrm>
            <a:custGeom>
              <a:avLst/>
              <a:gdLst/>
              <a:ahLst/>
              <a:cxnLst/>
              <a:rect r="r" b="b" t="t" l="l"/>
              <a:pathLst>
                <a:path h="1452634" w="932601">
                  <a:moveTo>
                    <a:pt x="110703" y="0"/>
                  </a:moveTo>
                  <a:lnTo>
                    <a:pt x="821898" y="0"/>
                  </a:lnTo>
                  <a:cubicBezTo>
                    <a:pt x="851258" y="0"/>
                    <a:pt x="879416" y="11663"/>
                    <a:pt x="900177" y="32424"/>
                  </a:cubicBezTo>
                  <a:cubicBezTo>
                    <a:pt x="920937" y="53185"/>
                    <a:pt x="932601" y="81343"/>
                    <a:pt x="932601" y="110703"/>
                  </a:cubicBezTo>
                  <a:lnTo>
                    <a:pt x="932601" y="1341931"/>
                  </a:lnTo>
                  <a:cubicBezTo>
                    <a:pt x="932601" y="1371291"/>
                    <a:pt x="920937" y="1399449"/>
                    <a:pt x="900177" y="1420210"/>
                  </a:cubicBezTo>
                  <a:cubicBezTo>
                    <a:pt x="879416" y="1440971"/>
                    <a:pt x="851258" y="1452634"/>
                    <a:pt x="821898" y="1452634"/>
                  </a:cubicBezTo>
                  <a:lnTo>
                    <a:pt x="110703" y="1452634"/>
                  </a:lnTo>
                  <a:cubicBezTo>
                    <a:pt x="81343" y="1452634"/>
                    <a:pt x="53185" y="1440971"/>
                    <a:pt x="32424" y="1420210"/>
                  </a:cubicBezTo>
                  <a:cubicBezTo>
                    <a:pt x="11663" y="1399449"/>
                    <a:pt x="0" y="1371291"/>
                    <a:pt x="0" y="1341931"/>
                  </a:cubicBezTo>
                  <a:lnTo>
                    <a:pt x="0" y="110703"/>
                  </a:lnTo>
                  <a:cubicBezTo>
                    <a:pt x="0" y="81343"/>
                    <a:pt x="11663" y="53185"/>
                    <a:pt x="32424" y="32424"/>
                  </a:cubicBezTo>
                  <a:cubicBezTo>
                    <a:pt x="53185" y="11663"/>
                    <a:pt x="81343" y="0"/>
                    <a:pt x="110703" y="0"/>
                  </a:cubicBezTo>
                  <a:close/>
                </a:path>
              </a:pathLst>
            </a:custGeom>
            <a:solidFill>
              <a:srgbClr val="C941A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32601" cy="149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38153" y="4854654"/>
            <a:ext cx="2444965" cy="29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2239" spc="-1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Initial Research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60396" y="4854654"/>
            <a:ext cx="2444965" cy="29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2239" spc="-1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Development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82639" y="4854654"/>
            <a:ext cx="2444965" cy="538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2239" spc="-1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SYSTEM INTEGRATION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04882" y="4854654"/>
            <a:ext cx="2444965" cy="538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2239" spc="-1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DEPLOYMENT &amp; OPTIMIZATION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92016" y="1928812"/>
            <a:ext cx="12621720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Project Milestones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77128" y="5726212"/>
            <a:ext cx="2167016" cy="146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sz="21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Conducted comprehensive market analysis for insights.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99371" y="5376262"/>
            <a:ext cx="2167016" cy="292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sz="21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 the backend framework and integrated the Generative AI engine for intent detection.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23098" y="5558938"/>
            <a:ext cx="2167016" cy="25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sz="21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Connected the AI model with the Telephony Gateway and conducted functional testing.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43857" y="5558938"/>
            <a:ext cx="2167016" cy="292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sz="21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Deployed the modernized IVR solution and optimized response latency for smooth interaction.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47341" y="9305925"/>
            <a:ext cx="5523118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8"/>
              </a:lnSpc>
            </a:pPr>
            <a:r>
              <a:rPr lang="en-US" sz="2100" spc="60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Presented By : Ashwin and Shruti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0780">
            <a:off x="-2922015" y="271096"/>
            <a:ext cx="12739531" cy="4495993"/>
          </a:xfrm>
          <a:custGeom>
            <a:avLst/>
            <a:gdLst/>
            <a:ahLst/>
            <a:cxnLst/>
            <a:rect r="r" b="b" t="t" l="l"/>
            <a:pathLst>
              <a:path h="4495993" w="12739531">
                <a:moveTo>
                  <a:pt x="0" y="0"/>
                </a:moveTo>
                <a:lnTo>
                  <a:pt x="12739531" y="0"/>
                </a:lnTo>
                <a:lnTo>
                  <a:pt x="12739531" y="4495993"/>
                </a:lnTo>
                <a:lnTo>
                  <a:pt x="0" y="44959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36778" y="0"/>
            <a:ext cx="10118636" cy="10321466"/>
          </a:xfrm>
          <a:custGeom>
            <a:avLst/>
            <a:gdLst/>
            <a:ahLst/>
            <a:cxnLst/>
            <a:rect r="r" b="b" t="t" l="l"/>
            <a:pathLst>
              <a:path h="10321466" w="10118636">
                <a:moveTo>
                  <a:pt x="0" y="0"/>
                </a:moveTo>
                <a:lnTo>
                  <a:pt x="10118636" y="0"/>
                </a:lnTo>
                <a:lnTo>
                  <a:pt x="10118636" y="10321466"/>
                </a:lnTo>
                <a:lnTo>
                  <a:pt x="0" y="10321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017" r="0" b="-698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5537" y="5322658"/>
            <a:ext cx="9081636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Applications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192" y="9305925"/>
            <a:ext cx="6446029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8"/>
              </a:lnSpc>
            </a:pPr>
            <a:r>
              <a:rPr lang="en-US" sz="2100" spc="60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Presented By : Saranya, Anushka and Rohan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5635" y="1807878"/>
            <a:ext cx="15496730" cy="7938881"/>
          </a:xfrm>
          <a:custGeom>
            <a:avLst/>
            <a:gdLst/>
            <a:ahLst/>
            <a:cxnLst/>
            <a:rect r="r" b="b" t="t" l="l"/>
            <a:pathLst>
              <a:path h="7938881" w="15496730">
                <a:moveTo>
                  <a:pt x="0" y="0"/>
                </a:moveTo>
                <a:lnTo>
                  <a:pt x="15496730" y="0"/>
                </a:lnTo>
                <a:lnTo>
                  <a:pt x="15496730" y="7938881"/>
                </a:lnTo>
                <a:lnTo>
                  <a:pt x="0" y="7938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267" r="0" b="-66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231" y="622411"/>
            <a:ext cx="9081636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Challenges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88164" y="9637412"/>
            <a:ext cx="9484885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8"/>
              </a:lnSpc>
            </a:pPr>
            <a:r>
              <a:rPr lang="en-US" sz="2100" spc="60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Presented By : Manoj, Ammutulhusna Mohammad and Praveen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3952" y="666245"/>
            <a:ext cx="9081636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Future Scope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54474" y="4762501"/>
            <a:ext cx="6082228" cy="5153306"/>
          </a:xfrm>
          <a:custGeom>
            <a:avLst/>
            <a:gdLst/>
            <a:ahLst/>
            <a:cxnLst/>
            <a:rect r="r" b="b" t="t" l="l"/>
            <a:pathLst>
              <a:path h="5153306" w="6082228">
                <a:moveTo>
                  <a:pt x="0" y="0"/>
                </a:moveTo>
                <a:lnTo>
                  <a:pt x="6082228" y="0"/>
                </a:lnTo>
                <a:lnTo>
                  <a:pt x="6082228" y="5153305"/>
                </a:lnTo>
                <a:lnTo>
                  <a:pt x="0" y="5153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00787" y="6621008"/>
            <a:ext cx="5189601" cy="148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3727" spc="-2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Multilingual Supp</a:t>
            </a:r>
            <a:r>
              <a:rPr lang="en-US" sz="3727" spc="-2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ort: Real-time translation for regional languages.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923126" y="504320"/>
            <a:ext cx="7336174" cy="5895616"/>
          </a:xfrm>
          <a:custGeom>
            <a:avLst/>
            <a:gdLst/>
            <a:ahLst/>
            <a:cxnLst/>
            <a:rect r="r" b="b" t="t" l="l"/>
            <a:pathLst>
              <a:path h="5895616" w="7336174">
                <a:moveTo>
                  <a:pt x="0" y="0"/>
                </a:moveTo>
                <a:lnTo>
                  <a:pt x="7336174" y="0"/>
                </a:lnTo>
                <a:lnTo>
                  <a:pt x="7336174" y="5895616"/>
                </a:lnTo>
                <a:lnTo>
                  <a:pt x="0" y="5895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69474" y="2252689"/>
            <a:ext cx="6183718" cy="144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8"/>
              </a:lnSpc>
              <a:spcBef>
                <a:spcPct val="0"/>
              </a:spcBef>
            </a:pPr>
            <a:r>
              <a:rPr lang="en-US" sz="3613" spc="-22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Om</a:t>
            </a:r>
            <a:r>
              <a:rPr lang="en-US" sz="3613" spc="-22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nichannel: Switching the</a:t>
            </a:r>
            <a:r>
              <a:rPr lang="en-US" sz="3613" spc="-22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conversation from Voice to WhatsApp/SMS seamlessly.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05591" y="2369436"/>
            <a:ext cx="6333678" cy="5953658"/>
          </a:xfrm>
          <a:custGeom>
            <a:avLst/>
            <a:gdLst/>
            <a:ahLst/>
            <a:cxnLst/>
            <a:rect r="r" b="b" t="t" l="l"/>
            <a:pathLst>
              <a:path h="5953658" w="6333678">
                <a:moveTo>
                  <a:pt x="0" y="0"/>
                </a:moveTo>
                <a:lnTo>
                  <a:pt x="6333678" y="0"/>
                </a:lnTo>
                <a:lnTo>
                  <a:pt x="6333678" y="5953658"/>
                </a:lnTo>
                <a:lnTo>
                  <a:pt x="0" y="59536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17638" y="3758142"/>
            <a:ext cx="3929598" cy="280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9"/>
              </a:lnSpc>
              <a:spcBef>
                <a:spcPct val="0"/>
              </a:spcBef>
            </a:pPr>
            <a:r>
              <a:rPr lang="en-US" sz="3547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Sentiment Analysis: Detecting use</a:t>
            </a:r>
            <a:r>
              <a:rPr lang="en-US" sz="3547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 emotion (anger/joy) to route calls to humans if needed.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7140" y="9463495"/>
            <a:ext cx="6243439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8"/>
              </a:lnSpc>
            </a:pPr>
            <a:r>
              <a:rPr lang="en-US" sz="2100" spc="60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Presented By : Gayatri and Sonakar Khushi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88954" y="-777273"/>
            <a:ext cx="8344335" cy="8229600"/>
          </a:xfrm>
          <a:custGeom>
            <a:avLst/>
            <a:gdLst/>
            <a:ahLst/>
            <a:cxnLst/>
            <a:rect r="r" b="b" t="t" l="l"/>
            <a:pathLst>
              <a:path h="8229600" w="8344335">
                <a:moveTo>
                  <a:pt x="0" y="0"/>
                </a:moveTo>
                <a:lnTo>
                  <a:pt x="8344334" y="0"/>
                </a:lnTo>
                <a:lnTo>
                  <a:pt x="83443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01863" y="5843206"/>
            <a:ext cx="6365263" cy="6478639"/>
          </a:xfrm>
          <a:custGeom>
            <a:avLst/>
            <a:gdLst/>
            <a:ahLst/>
            <a:cxnLst/>
            <a:rect r="r" b="b" t="t" l="l"/>
            <a:pathLst>
              <a:path h="6478639" w="6365263">
                <a:moveTo>
                  <a:pt x="0" y="0"/>
                </a:moveTo>
                <a:lnTo>
                  <a:pt x="6365263" y="0"/>
                </a:lnTo>
                <a:lnTo>
                  <a:pt x="6365263" y="6478639"/>
                </a:lnTo>
                <a:lnTo>
                  <a:pt x="0" y="647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5266" y="831795"/>
            <a:ext cx="11490210" cy="14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0400" spc="-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Conclusion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113104" y="8255515"/>
            <a:ext cx="1654022" cy="1654022"/>
          </a:xfrm>
          <a:custGeom>
            <a:avLst/>
            <a:gdLst/>
            <a:ahLst/>
            <a:cxnLst/>
            <a:rect r="r" b="b" t="t" l="l"/>
            <a:pathLst>
              <a:path h="1654022" w="1654022">
                <a:moveTo>
                  <a:pt x="0" y="0"/>
                </a:moveTo>
                <a:lnTo>
                  <a:pt x="1654022" y="0"/>
                </a:lnTo>
                <a:lnTo>
                  <a:pt x="1654022" y="1654022"/>
                </a:lnTo>
                <a:lnTo>
                  <a:pt x="0" y="1654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4913" y="2485844"/>
            <a:ext cx="10414703" cy="206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726" indent="-426363" lvl="1">
              <a:lnSpc>
                <a:spcPts val="5529"/>
              </a:lnSpc>
              <a:buFont typeface="Arial"/>
              <a:buChar char="•"/>
            </a:pPr>
            <a:r>
              <a:rPr lang="en-US" sz="39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Modernized IVR enhances User Experience (UX) and operational efficiency.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3875" y="5410206"/>
            <a:ext cx="10385741" cy="141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0315" indent="-445158" lvl="1">
              <a:lnSpc>
                <a:spcPts val="5773"/>
              </a:lnSpc>
              <a:buFont typeface="Arial"/>
              <a:buChar char="•"/>
            </a:pPr>
            <a:r>
              <a:rPr lang="en-US" sz="412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Reduces wait times and operational costs.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3875" y="7670841"/>
            <a:ext cx="10157261" cy="141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0315" indent="-445158" lvl="1">
              <a:lnSpc>
                <a:spcPts val="5773"/>
              </a:lnSpc>
              <a:buFont typeface="Arial"/>
              <a:buChar char="•"/>
            </a:pPr>
            <a:r>
              <a:rPr lang="en-US" sz="412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Scalable framework adaptable to any industry.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4913" y="9643218"/>
            <a:ext cx="6468539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8"/>
              </a:lnSpc>
            </a:pPr>
            <a:r>
              <a:rPr lang="en-US" sz="2100" spc="60">
                <a:solidFill>
                  <a:srgbClr val="E94C9C"/>
                </a:solidFill>
                <a:latin typeface="Poppins"/>
                <a:ea typeface="Poppins"/>
                <a:cs typeface="Poppins"/>
                <a:sym typeface="Poppins"/>
              </a:rPr>
              <a:t>Presented By : Dimpul, Harshvardhan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95694" y="-1830861"/>
            <a:ext cx="13057128" cy="12698057"/>
          </a:xfrm>
          <a:custGeom>
            <a:avLst/>
            <a:gdLst/>
            <a:ahLst/>
            <a:cxnLst/>
            <a:rect r="r" b="b" t="t" l="l"/>
            <a:pathLst>
              <a:path h="12698057" w="13057128">
                <a:moveTo>
                  <a:pt x="0" y="0"/>
                </a:moveTo>
                <a:lnTo>
                  <a:pt x="13057128" y="0"/>
                </a:lnTo>
                <a:lnTo>
                  <a:pt x="13057128" y="12698057"/>
                </a:lnTo>
                <a:lnTo>
                  <a:pt x="0" y="12698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83065" y="2637596"/>
            <a:ext cx="8609869" cy="8229600"/>
          </a:xfrm>
          <a:custGeom>
            <a:avLst/>
            <a:gdLst/>
            <a:ahLst/>
            <a:cxnLst/>
            <a:rect r="r" b="b" t="t" l="l"/>
            <a:pathLst>
              <a:path h="8229600" w="8609869">
                <a:moveTo>
                  <a:pt x="0" y="0"/>
                </a:moveTo>
                <a:lnTo>
                  <a:pt x="8609870" y="0"/>
                </a:lnTo>
                <a:lnTo>
                  <a:pt x="8609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50023" y="3701162"/>
            <a:ext cx="13987954" cy="305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6"/>
              </a:lnSpc>
            </a:pPr>
            <a:r>
              <a:rPr lang="en-US" sz="22237" spc="-1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Thank You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DAG5Gycamt4</dc:identifier>
  <dcterms:modified xsi:type="dcterms:W3CDTF">2011-08-01T06:04:30Z</dcterms:modified>
  <cp:revision>1</cp:revision>
  <dc:title>Infosys Presentation</dc:title>
</cp:coreProperties>
</file>